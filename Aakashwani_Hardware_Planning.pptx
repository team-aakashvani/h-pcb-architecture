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Cansat_Power_Budget.xlsx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5075"/>
            <a:ext cx="7772400" cy="1470025"/>
          </a:xfrm>
        </p:spPr>
        <p:txBody>
          <a:bodyPr/>
          <a:lstStyle/>
          <a:p>
            <a:r>
              <a:rPr dirty="0"/>
              <a:t>Team Aakashwani: CAN-7USAT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76601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Hardware &amp; PCB Layout Planning Session</a:t>
            </a:r>
          </a:p>
          <a:p>
            <a:r>
              <a:rPr dirty="0"/>
              <a:t>Transitioning from PDR to Detailed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Our Dual-Pack Power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9113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Our PDR mandates a strict separation to prevent brown-outs:</a:t>
            </a:r>
          </a:p>
          <a:p>
            <a:r>
              <a:rPr dirty="0"/>
              <a:t>Pack A (Avionics): 2S 18650 (3.4 Ah). Powers the ESP32-S3, sensors, and radios.</a:t>
            </a:r>
          </a:p>
          <a:p>
            <a:r>
              <a:rPr dirty="0"/>
              <a:t>Pack B (Drone): 2S 18650. Dedicated solely to the 4-in-1 ESC and BLDC motors.</a:t>
            </a:r>
          </a:p>
          <a:p>
            <a:r>
              <a:rPr dirty="0"/>
              <a:t>Layout Rule #1: These two power nets MUST remain physically isolated on the PCBs. Motor current spikes cannot be allowed to reach the 5V BEC.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Avionics Power Chain (Pack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925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dirty="0"/>
              <a:t>How power routes to the brains:</a:t>
            </a:r>
          </a:p>
          <a:p>
            <a:r>
              <a:rPr dirty="0"/>
              <a:t>Path: XT30 (J1) -&gt; Fuse -&gt; Ext Switch -&gt; INA260 -&gt; 5V/3A BEC -&gt; AMS1117-3.3</a:t>
            </a:r>
          </a:p>
          <a:p>
            <a:r>
              <a:rPr dirty="0"/>
              <a:t>Monitoring: We must place the INA260 and MAX17048 close to the battery input for accurate V/I and SoC telemetry.</a:t>
            </a:r>
          </a:p>
          <a:p>
            <a:r>
              <a:rPr dirty="0"/>
              <a:t>Buzzer: Powered directly from VBAT. Needs a dedicated high-current trace, isolated from sensor 3.3V 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Star-Point 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dirty="0"/>
              <a:t>The most critical part of our dual-pack system:</a:t>
            </a:r>
          </a:p>
          <a:p>
            <a:r>
              <a:rPr dirty="0"/>
              <a:t>Although Pack A and Pack B are separate, the ESC needs to read PWM signals from the ESP32.</a:t>
            </a:r>
          </a:p>
          <a:p>
            <a:r>
              <a:rPr dirty="0"/>
              <a:t>We must implement a Single Star-Point Ground where Avionics GND meets ESC GND.</a:t>
            </a:r>
          </a:p>
          <a:p>
            <a:r>
              <a:rPr dirty="0"/>
              <a:t>Layout Rule #2: Do not create multiple ground bridges between the systems, or we will create a ground loop that invites EMI.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The H-Shaped PCB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545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Our mechanical structure uses a rigid H-shaped PCB configuration:</a:t>
            </a:r>
          </a:p>
          <a:p>
            <a:pPr lvl="1"/>
            <a:r>
              <a:rPr dirty="0"/>
              <a:t>Right Board (|): Power Distribution. Handles noisy Pack B, ESC, regulators, and high currents.</a:t>
            </a:r>
          </a:p>
          <a:p>
            <a:pPr lvl="1"/>
            <a:r>
              <a:rPr dirty="0"/>
              <a:t>Left Board (|): Avionics &amp; CDH. Houses ESP32-S3, </a:t>
            </a:r>
            <a:r>
              <a:rPr dirty="0" err="1"/>
              <a:t>XBee</a:t>
            </a:r>
            <a:r>
              <a:rPr dirty="0"/>
              <a:t>, and CC1101, physically isolated from motor noise.</a:t>
            </a:r>
          </a:p>
          <a:p>
            <a:pPr lvl="1"/>
            <a:r>
              <a:rPr dirty="0"/>
              <a:t>Middle Board (-): Sensor Bridge. Castellated edges bridge the two side-boards together.</a:t>
            </a:r>
          </a:p>
          <a:p>
            <a:r>
              <a:rPr dirty="0"/>
              <a:t>OPTIMIZATION: The middle board sits on the central axis of the CanSat. This is the perfect mathematical center for the BNO085 IMU, preventing centrifugal offset errors during rotation!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Sensor Bridge PCB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925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dirty="0"/>
              <a:t>Sensors: BMP585, BNO085, SHT4x, SGP41, Pitot DP.</a:t>
            </a:r>
          </a:p>
          <a:p>
            <a:r>
              <a:rPr dirty="0"/>
              <a:t>All operate on 3.3V. Total draw &lt; 0.3 W.</a:t>
            </a:r>
          </a:p>
          <a:p>
            <a:r>
              <a:rPr dirty="0"/>
              <a:t>I2C Routing: We have two I2C buses. Keep traces short, away from the edges (EMI from carbon rods), and ensure pull-up resistors are correctly placed.</a:t>
            </a:r>
          </a:p>
          <a:p>
            <a:r>
              <a:rPr dirty="0"/>
              <a:t>Decoupling: 0.1µF capacitors placed at the VCC pin of EVERY single sensor 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RF Interference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355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dirty="0"/>
              <a:t>Radios: </a:t>
            </a:r>
            <a:r>
              <a:rPr dirty="0" err="1"/>
              <a:t>XBee</a:t>
            </a:r>
            <a:r>
              <a:rPr dirty="0"/>
              <a:t> 3 Pro (2.4 GHz) + CC1101 (433 MHz) + </a:t>
            </a:r>
            <a:r>
              <a:rPr dirty="0" err="1"/>
              <a:t>Edgehax</a:t>
            </a:r>
            <a:r>
              <a:rPr dirty="0"/>
              <a:t> GNSS.</a:t>
            </a:r>
          </a:p>
          <a:p>
            <a:r>
              <a:rPr dirty="0"/>
              <a:t>Layout Rule #4: NO COPPER underneath antennas! The PCB must have keep-out zones on all layers below the </a:t>
            </a:r>
            <a:r>
              <a:rPr dirty="0" err="1"/>
              <a:t>XBee</a:t>
            </a:r>
            <a:r>
              <a:rPr dirty="0"/>
              <a:t> and GNSS patch antennas.</a:t>
            </a:r>
          </a:p>
          <a:p>
            <a:r>
              <a:rPr dirty="0"/>
              <a:t>SPI routing for CC1101 and microSD must be shielded by ground planes to prevent high-speed clock noise from deafening the GNSS.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Mechanical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5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dirty="0"/>
              <a:t>As per PDR: 'No press-fit or friction-fit anywhere'.</a:t>
            </a:r>
          </a:p>
          <a:p>
            <a:r>
              <a:rPr dirty="0"/>
              <a:t>Connectors: All harnesses must use positive-locking connectors (JST-XH/XT30). No spring contacts.</a:t>
            </a:r>
          </a:p>
          <a:p>
            <a:r>
              <a:rPr dirty="0"/>
              <a:t>Mounting: M3 screws into brass heat-set inserts (≥ 4 points/board). Keep copper traces away from the mounting holes to prevent shorts if a screw bites into the PCB.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KiCad: Hierarchical Schematics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4975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Problem: Our current schematic is one massive sheet. This is a nightmare for a 3-board production.</a:t>
            </a:r>
          </a:p>
          <a:p>
            <a:r>
              <a:rPr dirty="0"/>
              <a:t>Solution: We must use </a:t>
            </a:r>
            <a:r>
              <a:rPr dirty="0" err="1"/>
              <a:t>KiCad's</a:t>
            </a:r>
            <a:r>
              <a:rPr dirty="0"/>
              <a:t> Hierarchical Sheets.</a:t>
            </a:r>
          </a:p>
          <a:p>
            <a:pPr lvl="1"/>
            <a:r>
              <a:rPr dirty="0"/>
              <a:t>Create a 'Root' block diagram sheet.</a:t>
            </a:r>
          </a:p>
          <a:p>
            <a:pPr lvl="1"/>
            <a:r>
              <a:rPr dirty="0"/>
              <a:t>Sheet 1 (Right Board): Power, ESC, Regulators.</a:t>
            </a:r>
          </a:p>
          <a:p>
            <a:pPr lvl="1"/>
            <a:r>
              <a:rPr dirty="0"/>
              <a:t>Sheet 2 (Middle Board): Sensor Bridge, I2C pull-ups.</a:t>
            </a:r>
          </a:p>
          <a:p>
            <a:pPr lvl="1"/>
            <a:r>
              <a:rPr dirty="0"/>
              <a:t>Sheet 3 (Left Board): ESP32, </a:t>
            </a:r>
            <a:r>
              <a:rPr dirty="0" err="1"/>
              <a:t>XBee</a:t>
            </a:r>
            <a:r>
              <a:rPr dirty="0"/>
              <a:t>, CC1101.</a:t>
            </a:r>
          </a:p>
          <a:p>
            <a:r>
              <a:rPr dirty="0"/>
              <a:t>Why? It allows different team members to work on different sheets simultaneously and maps perfectly to our H-shaped boards.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The KiCad Execution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165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How we actually build this step-by-step:</a:t>
            </a:r>
          </a:p>
          <a:p>
            <a:r>
              <a:rPr dirty="0"/>
              <a:t>Step 1: Custom Footprints. We must design 1:1 courtyard footprints for our modules (like the </a:t>
            </a:r>
            <a:r>
              <a:rPr dirty="0" err="1"/>
              <a:t>XBee</a:t>
            </a:r>
            <a:r>
              <a:rPr dirty="0"/>
              <a:t> and ESC) to guarantee they fit inside the 140mm cylinder.</a:t>
            </a:r>
          </a:p>
          <a:p>
            <a:r>
              <a:rPr dirty="0"/>
              <a:t>Step 2: Hierarchical Schematic Entry. (Assign pins and verify all decoupling caps).</a:t>
            </a:r>
          </a:p>
          <a:p>
            <a:r>
              <a:rPr dirty="0"/>
              <a:t>Step 3: Board Setup (4-Layer </a:t>
            </a:r>
            <a:r>
              <a:rPr dirty="0" err="1"/>
              <a:t>Stackup</a:t>
            </a:r>
            <a:r>
              <a:rPr dirty="0"/>
              <a:t>). Set our constraints (trace widths, clearance).</a:t>
            </a:r>
          </a:p>
          <a:p>
            <a:r>
              <a:rPr dirty="0"/>
              <a:t>Step 4: Layout &amp; Routing. Place components first, then route.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Why 4 Layers?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0113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For a high-density, mixed-signal CanSat, 2 layers is too risky.</a:t>
            </a:r>
          </a:p>
          <a:p>
            <a:r>
              <a:rPr dirty="0"/>
              <a:t>Layer 1 (Top): Components and short signal traces.</a:t>
            </a:r>
          </a:p>
          <a:p>
            <a:r>
              <a:rPr dirty="0"/>
              <a:t>Layer 2 (In1): Solid Ground Plane (GND). Provides a direct, low-impedance return path for every signal. Kills EMI.</a:t>
            </a:r>
          </a:p>
          <a:p>
            <a:r>
              <a:rPr dirty="0"/>
              <a:t>Layer 3 (In2): Power Plane (3.3V / 5V). Delivers clean power without needing thick traces everywhere.</a:t>
            </a:r>
          </a:p>
          <a:p>
            <a:r>
              <a:rPr dirty="0"/>
              <a:t>Layer 4 (Bottom): Remaining signal traces and connectors.</a:t>
            </a:r>
          </a:p>
          <a:p>
            <a:r>
              <a:rPr dirty="0"/>
              <a:t>Cost: JLCPCB/</a:t>
            </a:r>
            <a:r>
              <a:rPr dirty="0" err="1"/>
              <a:t>PCBWay</a:t>
            </a:r>
            <a:r>
              <a:rPr dirty="0"/>
              <a:t> 4-layer boards are now incredibly cheap. The reliability gain is mandatory for our 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Electrically Bridging the 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6215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How does the Middle board connect to the Left and Right boards in </a:t>
            </a:r>
            <a:r>
              <a:rPr dirty="0" err="1"/>
              <a:t>KiCad</a:t>
            </a:r>
            <a:r>
              <a:rPr dirty="0"/>
              <a:t>?</a:t>
            </a:r>
          </a:p>
          <a:p>
            <a:r>
              <a:rPr dirty="0"/>
              <a:t>Castellated Holes (Half-Vias): We place standard via pads on the exact edge of the middle board.</a:t>
            </a:r>
          </a:p>
          <a:p>
            <a:r>
              <a:rPr dirty="0"/>
              <a:t>When manufactured, the router cuts through the vias, leaving copper half-cylinders exposed on the edge.</a:t>
            </a:r>
          </a:p>
          <a:p>
            <a:r>
              <a:rPr dirty="0"/>
              <a:t>Assembly: We slide the middle board between the two side boards and solder the edges together like a surface-mount component.</a:t>
            </a:r>
          </a:p>
          <a:p>
            <a:r>
              <a:rPr dirty="0" err="1"/>
              <a:t>KiCad</a:t>
            </a:r>
            <a:r>
              <a:rPr dirty="0"/>
              <a:t> Trick: We must align the castellated edge pins on the middle board perfectly with mating surface-mount pads on the side boards.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Design for Testability (DFT) &amp; Thermals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6449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How we ensure the board survives the +60°C thermal soak and the software team can actually debug it:</a:t>
            </a:r>
          </a:p>
          <a:p>
            <a:r>
              <a:rPr dirty="0"/>
              <a:t>Test Points: The software team needs to run HIL (Hardware-in-the-Loop) simulations. We MUST add exposed copper pads (Test Points) for GND, 3.3V, 5V, TX, RX, SDA, and SCL.</a:t>
            </a:r>
          </a:p>
          <a:p>
            <a:pPr lvl="1"/>
            <a:r>
              <a:rPr dirty="0"/>
              <a:t>Without test points, debugging requires soldering wires to microscopic pins, which ruins boards.</a:t>
            </a:r>
          </a:p>
          <a:p>
            <a:r>
              <a:rPr dirty="0"/>
              <a:t>Thermal Vias: The 5V BEC and the ESC will generate significant heat in a closed CanSat cylinder.</a:t>
            </a:r>
          </a:p>
          <a:p>
            <a:pPr lvl="1"/>
            <a:r>
              <a:rPr dirty="0"/>
              <a:t>We must place thermal vias (tiny copper-plated holes) directly underneath these hot components to dump their heat into the massive internal Ground plane (Layer 2), turning the whole PCB into a heatsink.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Post-Design Power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08163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How do we verify our power budget before the board is even manufactured?</a:t>
            </a:r>
          </a:p>
          <a:p>
            <a:r>
              <a:rPr dirty="0"/>
              <a:t>1. The Living BOM (Spreadsheet): Every time a component is added to </a:t>
            </a:r>
            <a:r>
              <a:rPr dirty="0" err="1"/>
              <a:t>KiCad</a:t>
            </a:r>
            <a:r>
              <a:rPr dirty="0"/>
              <a:t>, its 'Max Active Current' and 'Sleep Current' from the datasheet MUST be added to our master spreadsheet.</a:t>
            </a:r>
          </a:p>
          <a:p>
            <a:r>
              <a:rPr dirty="0"/>
              <a:t>2. Duty Cycle Math: A radio drawing 200mA during TX, but only transmitting 10% of the time, averages 20mA. We must calculate Average Current for battery life, and Peak Current for regulator sizing.</a:t>
            </a:r>
          </a:p>
          <a:p>
            <a:r>
              <a:rPr dirty="0"/>
              <a:t>3. </a:t>
            </a:r>
            <a:r>
              <a:rPr dirty="0" err="1"/>
              <a:t>KiCad</a:t>
            </a:r>
            <a:r>
              <a:rPr dirty="0"/>
              <a:t> PDN Calculator: Once traces are drawn, we use </a:t>
            </a:r>
            <a:r>
              <a:rPr dirty="0" err="1"/>
              <a:t>KiCad's</a:t>
            </a:r>
            <a:r>
              <a:rPr dirty="0"/>
              <a:t> built-in calculator to ensure a long trace doesn't cause a voltage drop that browns out a sensor.</a:t>
            </a:r>
          </a:p>
          <a:p>
            <a:r>
              <a:rPr dirty="0"/>
              <a:t>4. SPICE Simulation: If we design any custom analog filtering, we simulate it (e.g., LTspice/</a:t>
            </a:r>
            <a:r>
              <a:rPr dirty="0" err="1"/>
              <a:t>ngspice</a:t>
            </a:r>
            <a:r>
              <a:rPr dirty="0"/>
              <a:t>) before sending </a:t>
            </a:r>
            <a:r>
              <a:rPr dirty="0" err="1"/>
              <a:t>gerbers</a:t>
            </a:r>
            <a:r>
              <a:rPr dirty="0"/>
              <a:t> to fabrication.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Planning Tools &amp; Master Spreadsheet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5925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dirty="0"/>
              <a:t>To execute this, we use standard industry tools:</a:t>
            </a:r>
          </a:p>
          <a:p>
            <a:r>
              <a:rPr dirty="0"/>
              <a:t>Saturn PCB Toolkit: Everyone routing a board MUST use this to calculate trace widths.</a:t>
            </a:r>
          </a:p>
          <a:p>
            <a:r>
              <a:rPr dirty="0"/>
              <a:t>TI WEBENCH: Use this to simulate the 5V BEC thermal output.</a:t>
            </a:r>
          </a:p>
          <a:p>
            <a:r>
              <a:rPr dirty="0"/>
              <a:t>The Master Power Budget Spreadsheet:</a:t>
            </a:r>
          </a:p>
          <a:p>
            <a:r>
              <a:rPr dirty="0">
                <a:hlinkClick r:id="rId2"/>
              </a:rPr>
              <a:t>--&gt; CLICK HERE TO OPEN THE MASTER SPREADSHEET &lt;--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KiCad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steps for the hardware team:</a:t>
            </a:r>
          </a:p>
          <a:p>
            <a:r>
              <a:t>[  ] Verify castellated edge footprints for the H-bridge assembly.</a:t>
            </a:r>
          </a:p>
          <a:p>
            <a:r>
              <a:t>[  ] Create 1:1 courtyard footprints in KiCad to guarantee zero-collision.</a:t>
            </a:r>
          </a:p>
          <a:p>
            <a:r>
              <a:t>[  ] Assign person to route the Right Board (Power/Actuator).</a:t>
            </a:r>
          </a:p>
          <a:p>
            <a:r>
              <a:t>[  ] Assign person to route the Left Board (Avionics) and Middle Board (Sensor Bridge).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1404</Words>
  <Application>Microsoft Office PowerPoint</Application>
  <PresentationFormat>On-screen Show (4:3)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Team Aakashwani: CAN-7USAT</vt:lpstr>
      <vt:lpstr>1. Our Dual-Pack Power Architecture</vt:lpstr>
      <vt:lpstr>2. Avionics Power Chain (Pack A)</vt:lpstr>
      <vt:lpstr>3. The Star-Point Ground</vt:lpstr>
      <vt:lpstr>4. The H-Shaped PCB Assembly</vt:lpstr>
      <vt:lpstr>5. Sensor Bridge PCB Details</vt:lpstr>
      <vt:lpstr>6. RF Interference Mitigation</vt:lpstr>
      <vt:lpstr>7. Mechanical Integrity</vt:lpstr>
      <vt:lpstr>9. KiCad: Hierarchical Schematics</vt:lpstr>
      <vt:lpstr>10. The KiCad Execution Plan</vt:lpstr>
      <vt:lpstr>11. Why 4 Layers?</vt:lpstr>
      <vt:lpstr>12. Electrically Bridging the Boards</vt:lpstr>
      <vt:lpstr>13. Design for Testability (DFT) &amp; Thermals</vt:lpstr>
      <vt:lpstr>14. Post-Design Power Estimation</vt:lpstr>
      <vt:lpstr>15. Planning Tools &amp; Master Spreadsheet</vt:lpstr>
      <vt:lpstr>16. KiCad Action Items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mangipudi dattatreya</cp:lastModifiedBy>
  <cp:revision>2</cp:revision>
  <dcterms:created xsi:type="dcterms:W3CDTF">2013-01-27T09:14:16Z</dcterms:created>
  <dcterms:modified xsi:type="dcterms:W3CDTF">2026-07-20T10:57:35Z</dcterms:modified>
  <cp:category/>
</cp:coreProperties>
</file>